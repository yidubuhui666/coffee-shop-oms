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731520" cy="3810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54864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AF4EC"/>
                </a:solidFill>
                <a:latin typeface="微软雅黑"/>
                <a:ea typeface="微软雅黑"/>
              </a:rPr>
              <a:t>咖啡店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D7A86E"/>
                </a:solidFill>
                <a:latin typeface="微软雅黑"/>
                <a:ea typeface="微软雅黑"/>
              </a:rPr>
              <a:t>订单管理系统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AF4EC"/>
                </a:solidFill>
                <a:latin typeface="等线"/>
                <a:ea typeface="等线"/>
              </a:rPr>
              <a:t>Coffee Shop Order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7A86E"/>
                </a:solidFill>
                <a:latin typeface="微软雅黑"/>
                <a:ea typeface="微软雅黑"/>
              </a:rPr>
              <a:t>《数据库原理与应用》课程设计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0312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答辩信息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974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小组成员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971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1B14"/>
                </a:solidFill>
                <a:latin typeface="微软雅黑"/>
                <a:ea typeface="微软雅黑"/>
              </a:rPr>
              <a:t>114 杨帆（组长）   ·   092 许跃骞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520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专业 / 年级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947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1B14"/>
                </a:solidFill>
                <a:latin typeface="微软雅黑"/>
                <a:ea typeface="微软雅黑"/>
              </a:rPr>
              <a:t>计算机科学与技术 · 2024级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976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学院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262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1B14"/>
                </a:solidFill>
                <a:latin typeface="微软雅黑"/>
                <a:ea typeface="微软雅黑"/>
              </a:rPr>
              <a:t>西南大学  ·  计算机与信息科学学院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B1B14"/>
                </a:solidFill>
                <a:latin typeface="微软雅黑"/>
                <a:ea typeface="微软雅黑"/>
              </a:rPr>
              <a:t>☕ 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45720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2B1B14"/>
                </a:solidFill>
                <a:latin typeface="微软雅黑"/>
                <a:ea typeface="微软雅黑"/>
              </a:rP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731520" cy="5715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822960"/>
            <a:ext cx="777240" cy="59436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822960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872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1B14"/>
                </a:solidFill>
                <a:latin typeface="微软雅黑"/>
                <a:ea typeface="微软雅黑"/>
              </a:rPr>
              <a:t>分工说明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152144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Division of Labor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36192"/>
            <a:ext cx="777240" cy="594360"/>
          </a:xfrm>
          <a:prstGeom prst="roundRect">
            <a:avLst>
              <a:gd name="adj" fmla="val 25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58619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1B14"/>
                </a:solidFill>
                <a:latin typeface="微软雅黑"/>
                <a:ea typeface="微软雅黑"/>
              </a:rPr>
              <a:t>项目概述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865376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Project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49424"/>
            <a:ext cx="777240" cy="59436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49424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299424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1B14"/>
                </a:solidFill>
                <a:latin typeface="微软雅黑"/>
                <a:ea typeface="微软雅黑"/>
              </a:rPr>
              <a:t>数据库设计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578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Database Design &amp;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62656"/>
            <a:ext cx="777240" cy="594360"/>
          </a:xfrm>
          <a:prstGeom prst="roundRect">
            <a:avLst>
              <a:gd name="adj" fmla="val 25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62656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012656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1B14"/>
                </a:solidFill>
                <a:latin typeface="微软雅黑"/>
                <a:ea typeface="微软雅黑"/>
              </a:rPr>
              <a:t>使用说明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2918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Brief Instructions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75888"/>
            <a:ext cx="777240" cy="59436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75888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72588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1B14"/>
                </a:solidFill>
                <a:latin typeface="微软雅黑"/>
                <a:ea typeface="微软雅黑"/>
              </a:rPr>
              <a:t>界面展示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00507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Interface Screenshots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89120"/>
            <a:ext cx="777240" cy="594360"/>
          </a:xfrm>
          <a:prstGeom prst="roundRect">
            <a:avLst>
              <a:gd name="adj" fmla="val 25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389120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4391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1B14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718304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Summary &amp; Future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102352"/>
            <a:ext cx="777240" cy="59436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15235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1B14"/>
                </a:solidFill>
                <a:latin typeface="微软雅黑"/>
                <a:ea typeface="微软雅黑"/>
              </a:rPr>
              <a:t>参考文献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5431536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References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分工说明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两人小组 · 任务粒度协作分配 · Git 版本控制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303520" cy="109728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AF4EC"/>
                </a:solidFill>
                <a:latin typeface="微软雅黑"/>
                <a:ea typeface="微软雅黑"/>
              </a:rPr>
              <a:t>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488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B1B14"/>
                </a:solidFill>
                <a:latin typeface="微软雅黑"/>
                <a:ea typeface="微软雅黑"/>
              </a:rPr>
              <a:t>杨  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06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学号 114  ·  组长 · 全栈参与（偏后端 / 数据库）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6F4E37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需求分析 + ER 建模主导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6F4E37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Schema · 触发器 · 视图 · 存储过程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6F4E37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后端路由：订单 / 库存 / 统计模块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6F4E37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前端模板：仪表盘 / 订单管理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6F4E37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演示数据 bootstrap 脚本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4620" y="186690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182880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828800"/>
            <a:ext cx="5303520" cy="109728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210312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10312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AF4EC"/>
                </a:solidFill>
                <a:latin typeface="微软雅黑"/>
                <a:ea typeface="微软雅黑"/>
              </a:rPr>
              <a:t>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1488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B1B14"/>
                </a:solidFill>
                <a:latin typeface="微软雅黑"/>
                <a:ea typeface="微软雅黑"/>
              </a:rPr>
              <a:t>许跃骞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606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学号 092  ·  组员 · 全栈参与（偏前端 / 应用）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24612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D7A86E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后端路由：菜单 / 会员 / 促销模块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D7A86E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前端模板与 CSS 主样式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D7A86E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AI 生成商品图片素材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D7A86E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一键启动脚本（.bat / .command）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D7A86E"/>
                </a:solidFill>
                <a:latin typeface="等线"/>
              </a:rPr>
              <a:t>●  </a:t>
            </a:r>
            <a:r>
              <a:rPr sz="1400">
                <a:solidFill>
                  <a:srgbClr val="2A211B"/>
                </a:solidFill>
                <a:latin typeface="等线"/>
              </a:rPr>
              <a:t>答辩报告 + PPT + 数据库迁移脚本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F4E37"/>
                </a:solidFill>
                <a:latin typeface="微软雅黑"/>
                <a:ea typeface="微软雅黑"/>
              </a:rPr>
              <a:t>🔗  协作方式：两人各自维护独立 MySQL 数据库  ·  通过 GitHub 同步代码  ·  数据库改动配套幂等种子脚本（git pull 即同步）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数字化一家独立咖啡店的日常运营 · 取代纸质点单与表格记账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3749039" cy="42976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749039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749039" cy="54864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AF4EC"/>
                </a:solidFill>
                <a:latin typeface="微软雅黑"/>
                <a:ea typeface="微软雅黑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28800"/>
            <a:ext cx="2834639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20039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>
                <a:solidFill>
                  <a:srgbClr val="6F4E37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灵感来自学校旁边的独立咖啡店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6F4E37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店主原本用纸质点单 + Excel 记账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6F4E37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易出错、无任何数据分析能力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6F4E37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目标：用数据库 + Web 端替代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780" y="1866900"/>
            <a:ext cx="3749039" cy="42976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749039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749039" cy="54864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AF4EC"/>
                </a:solidFill>
                <a:latin typeface="微软雅黑"/>
                <a:ea typeface="微软雅黑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828800"/>
            <a:ext cx="2834639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主要任务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06040"/>
            <a:ext cx="320039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>
                <a:solidFill>
                  <a:srgbClr val="D7A86E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完整描述咖啡店业务的关系模式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D7A86E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在数据库中实现完整性、触发器等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D7A86E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三种角色（管理员/咖啡师/收银员）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D7A86E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对所有实体提供完整 CRUD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D7A86E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丰富的多表 JOIN 报表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6260" y="1866900"/>
            <a:ext cx="3566160" cy="42976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356616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566160" cy="548640"/>
          </a:xfrm>
          <a:prstGeom prst="rect">
            <a:avLst/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AF4EC"/>
                </a:solidFill>
                <a:latin typeface="微软雅黑"/>
                <a:ea typeface="微软雅黑"/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2880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关键难点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>
                <a:solidFill>
                  <a:srgbClr val="A06641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1对多 / 多对多关系建模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A06641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订单总额随商品项联动一致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A06641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积分自动入账 + 兑换抵现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A06641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原料库存随下单消耗 + 预警</a:t>
            </a:r>
          </a:p>
          <a:p>
            <a:pPr algn="l">
              <a:lnSpc>
                <a:spcPct val="150000"/>
              </a:lnSpc>
            </a:pPr>
            <a:r>
              <a:rPr sz="1100">
                <a:solidFill>
                  <a:srgbClr val="A06641"/>
                </a:solidFill>
                <a:latin typeface="等线"/>
              </a:rPr>
              <a:t>●  </a:t>
            </a:r>
            <a:r>
              <a:rPr sz="1300">
                <a:solidFill>
                  <a:srgbClr val="2A211B"/>
                </a:solidFill>
                <a:latin typeface="等线"/>
              </a:rPr>
              <a:t>会员折扣 ⊕ 促销码取更优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02·补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技术栈与系统架构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三层 B/S 架构 · Python 全栈 · 浏览器零安装即用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7A86E"/>
                </a:solidFill>
                <a:latin typeface="微软雅黑"/>
                <a:ea typeface="微软雅黑"/>
              </a:rPr>
              <a:t>🛠️ 技术栈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42032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4688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MySQL 8.0  ·  InnoDB 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44952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9718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SQLAlchemy 2.x  ·  Flask-SQLAlchemy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47872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后端框架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47472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Flask 3.0  ·  应用工厂 + Blueprint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50792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4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模板引擎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97764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Jinja2  ·  服务端渲染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53712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4F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前端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48056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原生 HTML + CSS  ·  少量 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56632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B04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8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9834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PyMySQL  +  cryptography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559552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48640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版本控制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4864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Git + GitHub  ·  Conventional Commits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6020" y="1866900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1828800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7A86E"/>
                </a:solidFill>
                <a:latin typeface="微软雅黑"/>
                <a:ea typeface="微软雅黑"/>
              </a:rPr>
              <a:t>🏛️ 系统架构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60604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65176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AF4EC"/>
                </a:solidFill>
                <a:latin typeface="微软雅黑"/>
                <a:ea typeface="微软雅黑"/>
              </a:rPr>
              <a:t>🌐  浏览器（表示层）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AF4EC"/>
                </a:solidFill>
                <a:latin typeface="等线"/>
                <a:ea typeface="等线"/>
              </a:rPr>
              <a:t>Jinja2 模板 · HTML/CSS/JS · 响应式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456432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D7A86E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584448"/>
            <a:ext cx="4937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HTTP / 表单提交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84048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88620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AF4EC"/>
                </a:solidFill>
                <a:latin typeface="微软雅黑"/>
                <a:ea typeface="微软雅黑"/>
              </a:rPr>
              <a:t>⚙️  Flask 应用（业务逻辑层）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AF4EC"/>
                </a:solidFill>
                <a:latin typeface="等线"/>
                <a:ea typeface="等线"/>
              </a:rPr>
              <a:t>11 个 Blueprint · 装饰器鉴权 · SQLAlchemy 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690872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D7A86E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818888"/>
            <a:ext cx="4937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SQL (经 PyMySQL 驱动)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07492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12064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AF4EC"/>
                </a:solidFill>
                <a:latin typeface="微软雅黑"/>
                <a:ea typeface="微软雅黑"/>
              </a:rPr>
              <a:t>🗄️  MySQL（数据持久层）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4864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AF4EC"/>
                </a:solidFill>
                <a:latin typeface="等线"/>
                <a:ea typeface="等线"/>
              </a:rPr>
              <a:t>10 张表 · 3 触发器 · 1 存储过程 · 2 视图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概念设计  —  ER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9 个实体 + 1 个联系实体 ProductIngredient · 三类关系并存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21180"/>
            <a:ext cx="11247120" cy="45262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47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74519"/>
            <a:ext cx="6317673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0" y="19202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实体类型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1B14"/>
                </a:solidFill>
                <a:latin typeface="Consolas"/>
                <a:ea typeface="Consolas"/>
              </a:rPr>
              <a:t>● customers / 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688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  强实体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974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1B14"/>
                </a:solidFill>
                <a:latin typeface="Consolas"/>
                <a:ea typeface="Consolas"/>
              </a:rPr>
              <a:t>● orders / order_items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8803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  事件实体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1B14"/>
                </a:solidFill>
                <a:latin typeface="Consolas"/>
                <a:ea typeface="Consolas"/>
              </a:rPr>
              <a:t>● products /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2918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  资源实体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204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1B14"/>
                </a:solidFill>
                <a:latin typeface="Consolas"/>
                <a:ea typeface="Consolas"/>
              </a:rPr>
              <a:t>● product_ingredient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0332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  联系实体（M:N）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逻辑设计  —  十张关系表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已规范化至 3NF / BCNF · PK 主键 · FK 外键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740" y="186690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98424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8424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1284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会员信息（积分、等级）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186690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198424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8424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1284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员工（角色、密码）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740" y="273558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69748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2852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85292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27889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08152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商品分类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300" y="273558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269748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2852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85292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7889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8152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商品菜单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6740" y="360426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356616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232" y="372160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72160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promotions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95020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促销码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0300" y="360426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72200" y="356616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36792" y="372160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72160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6576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orders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95020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订单主表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6740" y="447294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443484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3232" y="459028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5902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45262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order_items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481888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订单明细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0300" y="447294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2200" y="443484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36792" y="459028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5902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5262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inventory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81888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原料库存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6740" y="534162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530352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13232" y="54589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545896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5394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product_ingredient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25880" y="568756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配方（M:N 联系表）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0300" y="534162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172200" y="5303520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36792" y="54589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36792" y="545896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5394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Consolas"/>
                <a:ea typeface="Consolas"/>
              </a:rPr>
              <a:t>member_discount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68756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会员等级折扣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物理设计  —  DDL 摘录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完整 DDL 见 sql/schema.sql · 此处展示 orders 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777240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7772400" cy="4480560"/>
          </a:xfrm>
          <a:prstGeom prst="roundRect">
            <a:avLst>
              <a:gd name="adj" fmla="val 4000"/>
            </a:avLst>
          </a:prstGeom>
          <a:solidFill>
            <a:srgbClr val="2B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CREATE TABLE orders (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order_id        INT AUTO_INCREMENT PRIMARY KEY,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customer_id     INT,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staff_id        INT NOT NULL,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promo_id        INT,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order_time      DATETIME DEFAULT CURRENT_TIMESTAMP,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total_amount    DECIMAL(10,2) NOT NULL DEFAULT 0,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status          ENUM('PENDING','PAID','PREPARING','READY',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FAF4EC"/>
                </a:solidFill>
                <a:latin typeface="Consolas"/>
              </a:rPr>
              <a:t>                         'COMPLETED','CANCELLED'),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payment_method  ENUM('CASH','CARD','WECHAT','ALIPAY'),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points_used     INT DEFAULT 0,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FOREIGN KEY (customer_id) REFERENCES customers(customer_id)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              ON DELETE SET NULL,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FOREIGN KEY (staff_id)    REFERENCES staff(staff_id),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FOREIGN KEY (promo_id)    REFERENCES promotions(promo_id),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INDEX idx_time(order_time),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    INDEX idx_status(status)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A86E"/>
                </a:solidFill>
                <a:latin typeface="Consolas"/>
              </a:rPr>
              <a:t>) ENGINE=InnoDB;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0580" y="1866900"/>
            <a:ext cx="329184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29184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9659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设计亮点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774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900">
                <a:solidFill>
                  <a:srgbClr val="D7A86E"/>
                </a:solidFill>
                <a:latin typeface="等线"/>
              </a:rPr>
              <a:t>●  </a:t>
            </a:r>
            <a:r>
              <a:rPr sz="1100">
                <a:solidFill>
                  <a:srgbClr val="2A211B"/>
                </a:solidFill>
                <a:latin typeface="等线"/>
              </a:rPr>
              <a:t>ENUM 限定订单状态合法取值</a:t>
            </a:r>
          </a:p>
          <a:p>
            <a:pPr algn="l">
              <a:lnSpc>
                <a:spcPct val="145000"/>
              </a:lnSpc>
            </a:pPr>
            <a:r>
              <a:rPr sz="900">
                <a:solidFill>
                  <a:srgbClr val="D7A86E"/>
                </a:solidFill>
                <a:latin typeface="等线"/>
              </a:rPr>
              <a:t>●  </a:t>
            </a:r>
            <a:r>
              <a:rPr sz="1100">
                <a:solidFill>
                  <a:srgbClr val="2A211B"/>
                </a:solidFill>
                <a:latin typeface="等线"/>
              </a:rPr>
              <a:t>外键 ON DELETE SET NULL
保留历史订单完整性</a:t>
            </a:r>
          </a:p>
          <a:p>
            <a:pPr algn="l">
              <a:lnSpc>
                <a:spcPct val="145000"/>
              </a:lnSpc>
            </a:pPr>
            <a:r>
              <a:rPr sz="900">
                <a:solidFill>
                  <a:srgbClr val="D7A86E"/>
                </a:solidFill>
                <a:latin typeface="等线"/>
              </a:rPr>
              <a:t>●  </a:t>
            </a:r>
            <a:r>
              <a:rPr sz="1100">
                <a:solidFill>
                  <a:srgbClr val="2A211B"/>
                </a:solidFill>
                <a:latin typeface="等线"/>
              </a:rPr>
              <a:t>order_time / status 加索引
加速仪表盘与筛选</a:t>
            </a:r>
          </a:p>
          <a:p>
            <a:pPr algn="l">
              <a:lnSpc>
                <a:spcPct val="145000"/>
              </a:lnSpc>
            </a:pPr>
            <a:r>
              <a:rPr sz="900">
                <a:solidFill>
                  <a:srgbClr val="D7A86E"/>
                </a:solidFill>
                <a:latin typeface="等线"/>
              </a:rPr>
              <a:t>●  </a:t>
            </a:r>
            <a:r>
              <a:rPr sz="1100">
                <a:solidFill>
                  <a:srgbClr val="2A211B"/>
                </a:solidFill>
                <a:latin typeface="等线"/>
              </a:rPr>
              <a:t>DECIMAL(10,2) 保证金额精度</a:t>
            </a:r>
          </a:p>
          <a:p>
            <a:pPr algn="l">
              <a:lnSpc>
                <a:spcPct val="145000"/>
              </a:lnSpc>
            </a:pPr>
            <a:r>
              <a:rPr sz="900">
                <a:solidFill>
                  <a:srgbClr val="D7A86E"/>
                </a:solidFill>
                <a:latin typeface="等线"/>
              </a:rPr>
              <a:t>●  </a:t>
            </a:r>
            <a:r>
              <a:rPr sz="1100">
                <a:solidFill>
                  <a:srgbClr val="2A211B"/>
                </a:solidFill>
                <a:latin typeface="等线"/>
              </a:rPr>
              <a:t>InnoDB 引擎，支持事务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03·补1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表关系图谱  —  9 条外键串起 10 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ER 模型在数据库中如何具体落地为外键关系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6675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6675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🔗 全部外键关系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4144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products.category_id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3172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31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categories.category_id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31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商品归属分类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346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24912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orders.customer_id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24912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2491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customers.customer_id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724912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订单归属会员（可空）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2278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11810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orders.staff_id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118104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118104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staff.staff_id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118104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订单创建员工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6210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11296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orders.promo_id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511296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511296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promotions.promo_id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511296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订单使用的促销码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01421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0448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order_items.order_id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904488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90448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orders.order_id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90448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订单项归属订单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4074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2976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order_items.product_id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29768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29768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products.product_id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297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订单项指向商品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8006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690872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product_ingredient.product_id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690872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69087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products.product_id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690872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配方-商品（联合 PK）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1937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08406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product_ingredient.ingredient_id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084064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084064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inventory.ingredient_id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084064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配方-原料（联合 PK）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5869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477256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customers.member_level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477256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7A8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5477256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member_discount.level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5477256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会员等级（逻辑外键）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53300" y="1866900"/>
            <a:ext cx="4389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315200" y="1828800"/>
            <a:ext cx="4389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19202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📐 三类关系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24231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D3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C6E9F"/>
                </a:solidFill>
                <a:latin typeface="Consolas"/>
                <a:ea typeface="Consolas"/>
              </a:rPr>
              <a:t>1 :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246888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C6E9F"/>
                </a:solidFill>
                <a:latin typeface="微软雅黑"/>
                <a:ea typeface="微软雅黑"/>
              </a:rPr>
              <a:t>  一对一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807208"/>
            <a:ext cx="3703320" cy="749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1B14"/>
                </a:solidFill>
                <a:latin typeface="等线"/>
                <a:ea typeface="等线"/>
              </a:rPr>
              <a:t>customers ↔ member_discount
（每位会员对应唯一等级）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43800" y="37033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D8E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0" y="37490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8B52"/>
                </a:solidFill>
                <a:latin typeface="Consolas"/>
                <a:ea typeface="Consolas"/>
              </a:rPr>
              <a:t>1 : 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37490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8B52"/>
                </a:solidFill>
                <a:latin typeface="微软雅黑"/>
                <a:ea typeface="微软雅黑"/>
              </a:rPr>
              <a:t>  一对多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4087368"/>
            <a:ext cx="3703320" cy="749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1B14"/>
                </a:solidFill>
                <a:latin typeface="等线"/>
                <a:ea typeface="等线"/>
              </a:rPr>
              <a:t>categories → products
orders → order_items
staff → orders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43800" y="498348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CE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0" y="50292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6700"/>
                </a:solidFill>
                <a:latin typeface="Consolas"/>
                <a:ea typeface="Consolas"/>
              </a:rPr>
              <a:t>M : 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502920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6700"/>
                </a:solidFill>
                <a:latin typeface="微软雅黑"/>
                <a:ea typeface="微软雅黑"/>
              </a:rPr>
              <a:t>  多对多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5367528"/>
            <a:ext cx="3703320" cy="749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1B14"/>
                </a:solidFill>
                <a:latin typeface="等线"/>
                <a:ea typeface="等线"/>
              </a:rPr>
              <a:t>products ↔ inventory
通过联系表 product_ingredient
（每个商品消耗多种原料）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03·补2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完整性约束体系与范式分析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四类完整性 · 1NF → BCNF 演化路径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🛡️ 四类完整性约束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109728" cy="777240"/>
          </a:xfrm>
          <a:prstGeom prst="roundRect">
            <a:avLst>
              <a:gd name="adj" fmla="val 4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实体完整性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4E37"/>
                </a:solidFill>
                <a:latin typeface="Consolas"/>
                <a:ea typeface="Consolas"/>
              </a:rPr>
              <a:t>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7063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所有表都有 PRIMARY KEY，确保元组唯一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F4E37"/>
                </a:solidFill>
                <a:latin typeface="Consolas"/>
                <a:ea typeface="Consolas"/>
              </a:rPr>
              <a:t>  ► PK: customer_id, order_id,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9728" cy="777240"/>
          </a:xfrm>
          <a:prstGeom prst="roundRect">
            <a:avLst>
              <a:gd name="adj" fmla="val 4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参照完整性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375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D7A86E"/>
                </a:solidFill>
                <a:latin typeface="Consolas"/>
                <a:ea typeface="Consolas"/>
              </a:rPr>
              <a:t>Referential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8503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9 条 FOREIGN KEY 约束，避免悬空引用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7A86E"/>
                </a:solidFill>
                <a:latin typeface="Consolas"/>
                <a:ea typeface="Consolas"/>
              </a:rPr>
              <a:t>  ► ON DELETE SET NULL · CASCADE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109728" cy="777240"/>
          </a:xfrm>
          <a:prstGeom prst="roundRect">
            <a:avLst>
              <a:gd name="adj" fmla="val 40000"/>
            </a:avLst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域完整性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519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06641"/>
                </a:solidFill>
                <a:latin typeface="Consolas"/>
                <a:ea typeface="Consolas"/>
              </a:rPr>
              <a:t>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9943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ENUM / CHECK / NOT NULL / DEFAULT 限定取值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06641"/>
                </a:solidFill>
                <a:latin typeface="Consolas"/>
                <a:ea typeface="Consolas"/>
              </a:rPr>
              <a:t>  ► status ∈ ENUM('PENDING',...,'CANCELLED')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12080"/>
            <a:ext cx="109728" cy="777240"/>
          </a:xfrm>
          <a:prstGeom prst="roundRect">
            <a:avLst>
              <a:gd name="adj" fmla="val 40000"/>
            </a:avLst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用户自定义完整性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1663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C6E9F"/>
                </a:solidFill>
                <a:latin typeface="Consolas"/>
                <a:ea typeface="Consolas"/>
              </a:rPr>
              <a:t>User-Defined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1383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触发器 · 存储过程实现业务规则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C6E9F"/>
                </a:solidFill>
                <a:latin typeface="Consolas"/>
                <a:ea typeface="Consolas"/>
              </a:rPr>
              <a:t>  ► PAID 自动入账积分 · 自动扣库存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300" y="18669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18288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📚 范式分析  (以 order_items 为例)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42316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FCE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514600"/>
            <a:ext cx="685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微软雅黑"/>
                <a:ea typeface="微软雅黑"/>
              </a:rPr>
              <a:t>1NF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807208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5547"/>
                </a:solidFill>
                <a:latin typeface="等线"/>
                <a:ea typeface="等线"/>
              </a:rPr>
              <a:t>第一范式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468880"/>
            <a:ext cx="4114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B1B14"/>
                </a:solidFill>
                <a:latin typeface="等线"/>
                <a:ea typeface="等线"/>
              </a:rPr>
              <a:t>属性原子化，每个字段不可再分。
所有表均满足。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33756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D8E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429000"/>
            <a:ext cx="685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微软雅黑"/>
                <a:ea typeface="微软雅黑"/>
              </a:rPr>
              <a:t>2NF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721608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5547"/>
                </a:solidFill>
                <a:latin typeface="等线"/>
                <a:ea typeface="等线"/>
              </a:rPr>
              <a:t>第二范式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383280"/>
            <a:ext cx="4114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B1B14"/>
                </a:solidFill>
                <a:latin typeface="等线"/>
                <a:ea typeface="等线"/>
              </a:rPr>
              <a:t>在 1NF 基础上，非主属性完全依赖主键。
order_items(item_id PK)，quantity/unit_price 完全依赖主键。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25196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D3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343400"/>
            <a:ext cx="685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微软雅黑"/>
                <a:ea typeface="微软雅黑"/>
              </a:rPr>
              <a:t>3NF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636008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5547"/>
                </a:solidFill>
                <a:latin typeface="等线"/>
                <a:ea typeface="等线"/>
              </a:rPr>
              <a:t>第三范式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297680"/>
            <a:ext cx="4114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B1B14"/>
                </a:solidFill>
                <a:latin typeface="等线"/>
                <a:ea typeface="等线"/>
              </a:rPr>
              <a:t>在 2NF 基础上，消除传递依赖。
unit_price 直接随订单项存储而非依赖 product_id → 因为商品涨价不应改变历史订单价格（业务需要）。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516636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F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5257800"/>
            <a:ext cx="685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微软雅黑"/>
                <a:ea typeface="微软雅黑"/>
              </a:rPr>
              <a:t>BCNF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550408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5547"/>
                </a:solidFill>
                <a:latin typeface="等线"/>
                <a:ea typeface="等线"/>
              </a:rPr>
              <a:t>Boyce-Codd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212080"/>
            <a:ext cx="4114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B1B14"/>
                </a:solidFill>
                <a:latin typeface="等线"/>
                <a:ea typeface="等线"/>
              </a:rPr>
              <a:t>所有决定因素都是候选键。
联系表 product_ingredient 的复合主键 (product_id, ingredient_id) 满足 BCNF。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03·补3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索引设计与查询优化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主键索引 · 唯一索引 · 外键索引 · 业务热点索引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274320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🔎 索引清单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331720"/>
          <a:ext cx="10698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4297680"/>
              </a:tblGrid>
              <a:tr h="30697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AF4EC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anchor="ctr"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AF4EC"/>
                          </a:solidFill>
                          <a:latin typeface="微软雅黑"/>
                        </a:rPr>
                        <a:t>表 / 列</a:t>
                      </a:r>
                    </a:p>
                  </a:txBody>
                  <a:tcPr anchor="ctr"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AF4EC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anchor="ctr">
                    <a:solidFill>
                      <a:srgbClr val="6F4E37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PRIMARY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10 张表的 *_id 列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等线"/>
                        </a:rPr>
                        <a:t>唯一标识 + 聚簇索引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UNIQUE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customers.phone · staff.username · promotions.code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等线"/>
                        </a:rPr>
                        <a:t>防重复 + 加速查找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FK 索引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MySQL 自动为外键创建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等线"/>
                        </a:rPr>
                        <a:t>支持 JOIN 查询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idx_time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orders.order_time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等线"/>
                        </a:rPr>
                        <a:t>仪表盘按日期范围筛选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idx_status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orders.status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等线"/>
                        </a:rPr>
                        <a:t>订单列表按状态筛选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复合 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Consolas"/>
                        </a:rPr>
                        <a:t>product_ingredient(product_id, ingredient_id)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14"/>
                          </a:solidFill>
                          <a:latin typeface="等线"/>
                        </a:rPr>
                        <a:t>M:N 联系表双向查询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95300" y="4655820"/>
            <a:ext cx="6675120" cy="1783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617720"/>
            <a:ext cx="667512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091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7A86E"/>
                </a:solidFill>
                <a:latin typeface="微软雅黑"/>
                <a:ea typeface="微软雅黑"/>
              </a:rPr>
              <a:t>📈 典型查询 → 使用的索引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F4E37"/>
                </a:solidFill>
                <a:latin typeface="微软雅黑"/>
                <a:ea typeface="微软雅黑"/>
              </a:rPr>
              <a:t>● 当日营收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074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WHERE DATE(order_time)=CURDATE()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F4E37"/>
                </a:solidFill>
                <a:latin typeface="Consolas"/>
                <a:ea typeface="Consolas"/>
              </a:rPr>
              <a:t>→ idx_time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8B52"/>
                </a:solidFill>
                <a:latin typeface="微软雅黑"/>
                <a:ea typeface="微软雅黑"/>
              </a:rPr>
              <a:t>● 待处理订单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394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WHERE status='PENDING'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94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8B52"/>
                </a:solidFill>
                <a:latin typeface="Consolas"/>
                <a:ea typeface="Consolas"/>
              </a:rPr>
              <a:t>→ idx_status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7A86E"/>
                </a:solidFill>
                <a:latin typeface="微软雅黑"/>
                <a:ea typeface="微软雅黑"/>
              </a:rPr>
              <a:t>● 会员手机号查找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715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WHERE phone='138...'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715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7A86E"/>
                </a:solidFill>
                <a:latin typeface="Consolas"/>
                <a:ea typeface="Consolas"/>
              </a:rPr>
              <a:t>→ UNIQUE(phone)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C6E9F"/>
                </a:solidFill>
                <a:latin typeface="微软雅黑"/>
                <a:ea typeface="微软雅黑"/>
              </a:rPr>
              <a:t>● 订单详情 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6035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1B14"/>
                </a:solidFill>
                <a:latin typeface="Consolas"/>
                <a:ea typeface="Consolas"/>
              </a:rPr>
              <a:t>ON oi.order_id=o.order_id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60350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C6E9F"/>
                </a:solidFill>
                <a:latin typeface="Consolas"/>
                <a:ea typeface="Consolas"/>
              </a:rPr>
              <a:t>→ FK idx + PK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07580" y="4655820"/>
            <a:ext cx="4434840" cy="1783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69480" y="4617720"/>
            <a:ext cx="443484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47091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7A86E"/>
                </a:solidFill>
                <a:latin typeface="微软雅黑"/>
                <a:ea typeface="微软雅黑"/>
              </a:rPr>
              <a:t>⚡ 索引带来的提速（估算）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5148072"/>
            <a:ext cx="109728" cy="201168"/>
          </a:xfrm>
          <a:prstGeom prst="roundRect">
            <a:avLst>
              <a:gd name="adj" fmla="val 40000"/>
            </a:avLst>
          </a:prstGeom>
          <a:solidFill>
            <a:srgbClr val="B04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50749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1B14"/>
                </a:solidFill>
                <a:latin typeface="微软雅黑"/>
                <a:ea typeface="微软雅黑"/>
              </a:rPr>
              <a:t>无索引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07492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5547"/>
                </a:solidFill>
                <a:latin typeface="等线"/>
                <a:ea typeface="等线"/>
              </a:rPr>
              <a:t>全表扫描 O(N)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5074920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04835"/>
                </a:solidFill>
                <a:latin typeface="Consolas"/>
                <a:ea typeface="Consolas"/>
              </a:rPr>
              <a:t>~150 行扫描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5532120"/>
            <a:ext cx="109728" cy="201168"/>
          </a:xfrm>
          <a:prstGeom prst="roundRect">
            <a:avLst>
              <a:gd name="adj" fmla="val 40000"/>
            </a:avLst>
          </a:prstGeom>
          <a:solidFill>
            <a:srgbClr val="4F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545896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1B14"/>
                </a:solidFill>
                <a:latin typeface="微软雅黑"/>
                <a:ea typeface="微软雅黑"/>
              </a:rPr>
              <a:t>PK 主键索引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5458968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5547"/>
                </a:solidFill>
                <a:latin typeface="等线"/>
                <a:ea typeface="等线"/>
              </a:rPr>
              <a:t>B+ 树查找 O(log 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5458968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F8B52"/>
                </a:solidFill>
                <a:latin typeface="Consolas"/>
                <a:ea typeface="Consolas"/>
              </a:rPr>
              <a:t>~7 次定位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5916168"/>
            <a:ext cx="109728" cy="201168"/>
          </a:xfrm>
          <a:prstGeom prst="roundRect">
            <a:avLst>
              <a:gd name="adj" fmla="val 40000"/>
            </a:avLst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584301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1B14"/>
                </a:solidFill>
                <a:latin typeface="微软雅黑"/>
                <a:ea typeface="微软雅黑"/>
              </a:rPr>
              <a:t>范围 + 索引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843016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5547"/>
                </a:solidFill>
                <a:latin typeface="等线"/>
                <a:ea typeface="等线"/>
              </a:rPr>
              <a:t>索引区间扫描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5843016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C6E9F"/>
                </a:solidFill>
                <a:latin typeface="Consolas"/>
                <a:ea typeface="Consolas"/>
              </a:rPr>
              <a:t>毫秒级响应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数据库编程  —  触发器 + 存储过程 + 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把业务规则放进数据库 · 与客户端无关地保证不变量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37160" cy="91440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486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6F4E37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Consolas"/>
                <a:ea typeface="Consolas"/>
              </a:rPr>
              <a:t>trg_item_after_insert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插入订单项 → 自动重算 total_amount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8860" y="186690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182880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828800"/>
            <a:ext cx="137160" cy="91440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5486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D7A86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Consolas"/>
                <a:ea typeface="Consolas"/>
              </a:rPr>
              <a:t>trg_order_after_update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2860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状态变 PAID → 自动入账积分（1 RMB ⇒ 1 分）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300" y="291846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137160" cy="914400"/>
          </a:xfrm>
          <a:prstGeom prst="rect">
            <a:avLst/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80360"/>
            <a:ext cx="5486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A06641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971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Consolas"/>
                <a:ea typeface="Consolas"/>
              </a:rPr>
              <a:t>trg_item_deduct_stock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375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下单按配方扣减原料库存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18860" y="291846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0760" y="288036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2880360"/>
            <a:ext cx="137160" cy="914400"/>
          </a:xfrm>
          <a:prstGeom prst="rect">
            <a:avLst/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880360"/>
            <a:ext cx="5486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3C6E9F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971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Consolas"/>
                <a:ea typeface="Consolas"/>
              </a:rPr>
              <a:t>sp_place_order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3375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一次调用完成单品下单（IN 4 / OUT 1）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300" y="4152900"/>
            <a:ext cx="11247120" cy="2194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4114800"/>
            <a:ext cx="11247120" cy="2194560"/>
          </a:xfrm>
          <a:prstGeom prst="roundRect">
            <a:avLst>
              <a:gd name="adj" fmla="val 4000"/>
            </a:avLst>
          </a:prstGeom>
          <a:solidFill>
            <a:srgbClr val="2B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20624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D7A86E"/>
                </a:solidFill>
                <a:latin typeface="Consolas"/>
              </a:rPr>
              <a:t>-- 触发器示例 ②：订单变更为 PAID 时自动入账会员积分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CREATE TRIGGER trg_order_after_update AFTER UPDATE ON orders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FOR EACH ROW BEGIN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    IF NEW.status = 'PAID' AND OLD.status &lt;&gt; 'PAID'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       AND NEW.customer_id IS NOT NULL THEN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        UPDATE customers SET points = points + FLOOR(NEW.total_amount)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        WHERE  customer_id = NEW.customer_id;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    END IF;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FAF4EC"/>
                </a:solidFill>
                <a:latin typeface="Consolas"/>
              </a:rPr>
              <a:t>END;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代表性 SQL 查询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全部出现在应用的实际页面里 · 充分体现多表关系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32120" cy="384048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AF4EC"/>
                </a:solidFill>
                <a:latin typeface="微软雅黑"/>
                <a:ea typeface="微软雅黑"/>
              </a:rPr>
              <a:t>当日营收（聚合 + 过滤）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SELECT SUM(total_amount) FROM orders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WHERE  DATE(order_time) = CURDATE()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  AND  status &lt;&gt; 'CANCELLED';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580" y="18669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5532120" cy="384048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AF4EC"/>
                </a:solidFill>
                <a:latin typeface="微软雅黑"/>
                <a:ea typeface="微软雅黑"/>
              </a:rPr>
              <a:t>商品销量 TOP-5（2 表 JOIN）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SELECT p.name, SUM(oi.quantity) qty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FROM   order_items oi JOIN products p USING(product_id)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GROUP  BY p.product_id ORDER BY qty DESC LIMIT 5;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300" y="4180332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142232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5532120" cy="384048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42232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AF4EC"/>
                </a:solidFill>
                <a:latin typeface="微软雅黑"/>
                <a:ea typeface="微软雅黑"/>
              </a:rPr>
              <a:t>会员消费排行（3 表 JOIN + 聚合）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99432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SELECT c.name, c.member_level,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       SUM(oi.quantity * oi.unit_price) spent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FROM   customers c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JOIN   orders o      ON o.customer_id = c.customer_id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JOIN   order_items oi ON oi.order_id   = o.order_id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GROUP  BY c.customer_id ORDER BY spent DESC LIMIT 10;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580" y="4180332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4142232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4142232"/>
            <a:ext cx="5532120" cy="384048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142232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AF4EC"/>
                </a:solidFill>
                <a:latin typeface="微软雅黑"/>
                <a:ea typeface="微软雅黑"/>
              </a:rPr>
              <a:t>原料消耗预测（4 表 LEFT JOIN）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99432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SELECT inv.name, SUM(pi.consume_qty * oi.quantity) used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FROM   inventory inv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LEFT JOIN product_ingredient pi USING(ingredient_id)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LEFT JOIN order_items oi USING(product_id)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LEFT JOIN orders o USING(order_id)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B1B14"/>
                </a:solidFill>
                <a:latin typeface="Consolas"/>
              </a:rPr>
              <a:t>WHERE  o.order_time &gt;= DATE_SUB(CURDATE(), INTERVAL 7 DAY);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03·6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核心业务逻辑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订单状态机 · 折扣 ⊕ 积分双重抵扣计算优先级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20116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🔄 订单状态机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06040"/>
            <a:ext cx="1691640" cy="777240"/>
          </a:xfrm>
          <a:prstGeom prst="roundRect">
            <a:avLst>
              <a:gd name="adj" fmla="val 18000"/>
            </a:avLst>
          </a:prstGeom>
          <a:solidFill>
            <a:srgbClr val="FCE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8A6700"/>
                </a:solidFill>
                <a:latin typeface="Consolas"/>
                <a:ea typeface="Consolas"/>
              </a:rP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6700"/>
                </a:solidFill>
                <a:latin typeface="微软雅黑"/>
                <a:ea typeface="微软雅黑"/>
              </a:rPr>
              <a:t>待付款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6980" y="2606040"/>
            <a:ext cx="384048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6F4E37"/>
                </a:solidFill>
                <a:latin typeface="微软雅黑"/>
                <a:ea typeface="微软雅黑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606040"/>
            <a:ext cx="1691640" cy="777240"/>
          </a:xfrm>
          <a:prstGeom prst="roundRect">
            <a:avLst>
              <a:gd name="adj" fmla="val 18000"/>
            </a:avLst>
          </a:prstGeom>
          <a:solidFill>
            <a:srgbClr val="D8E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67004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6A2B"/>
                </a:solidFill>
                <a:latin typeface="Consolas"/>
                <a:ea typeface="Consolas"/>
              </a:rPr>
              <a:t>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9008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B6A2B"/>
                </a:solidFill>
                <a:latin typeface="微软雅黑"/>
                <a:ea typeface="微软雅黑"/>
              </a:rPr>
              <a:t>已付款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2606040"/>
            <a:ext cx="384048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6F4E37"/>
                </a:solidFill>
                <a:latin typeface="微软雅黑"/>
                <a:ea typeface="微软雅黑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2606040"/>
            <a:ext cx="1691640" cy="777240"/>
          </a:xfrm>
          <a:prstGeom prst="roundRect">
            <a:avLst>
              <a:gd name="adj" fmla="val 18000"/>
            </a:avLst>
          </a:prstGeom>
          <a:solidFill>
            <a:srgbClr val="D3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67004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578A"/>
                </a:solidFill>
                <a:latin typeface="Consolas"/>
                <a:ea typeface="Consolas"/>
              </a:rPr>
              <a:t>PREPARING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99008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5578A"/>
                </a:solidFill>
                <a:latin typeface="微软雅黑"/>
                <a:ea typeface="微软雅黑"/>
              </a:rPr>
              <a:t>制作中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3220" y="2606040"/>
            <a:ext cx="384048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6F4E37"/>
                </a:solidFill>
                <a:latin typeface="微软雅黑"/>
                <a:ea typeface="微软雅黑"/>
              </a:rP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606040"/>
            <a:ext cx="1691640" cy="777240"/>
          </a:xfrm>
          <a:prstGeom prst="roundRect">
            <a:avLst>
              <a:gd name="adj" fmla="val 18000"/>
            </a:avLst>
          </a:prstGeom>
          <a:solidFill>
            <a:srgbClr val="D3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67004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578A"/>
                </a:solidFill>
                <a:latin typeface="Consolas"/>
                <a:ea typeface="Consolas"/>
              </a:rPr>
              <a:t>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99008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5578A"/>
                </a:solidFill>
                <a:latin typeface="微软雅黑"/>
                <a:ea typeface="微软雅黑"/>
              </a:rPr>
              <a:t>待取餐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6340" y="2606040"/>
            <a:ext cx="384048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6F4E37"/>
                </a:solidFill>
                <a:latin typeface="微软雅黑"/>
                <a:ea typeface="微软雅黑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2606040"/>
            <a:ext cx="1691640" cy="777240"/>
          </a:xfrm>
          <a:prstGeom prst="roundRect">
            <a:avLst>
              <a:gd name="adj" fmla="val 18000"/>
            </a:avLst>
          </a:prstGeom>
          <a:solidFill>
            <a:srgbClr val="D8E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67004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6A2B"/>
                </a:solidFill>
                <a:latin typeface="Consolas"/>
                <a:ea typeface="Consolas"/>
              </a:rPr>
              <a:t>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9008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B6A2B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520440"/>
            <a:ext cx="2103120" cy="365760"/>
          </a:xfrm>
          <a:prstGeom prst="roundRect">
            <a:avLst>
              <a:gd name="adj" fmla="val 30000"/>
            </a:avLst>
          </a:prstGeom>
          <a:solidFill>
            <a:srgbClr val="F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352044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23A25"/>
                </a:solidFill>
                <a:latin typeface="微软雅黑"/>
                <a:ea typeface="微软雅黑"/>
              </a:rPr>
              <a:t>✕  CANCELLED  已取消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5204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（任意中间态均可跳转）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5204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4E37"/>
                </a:solidFill>
                <a:latin typeface="微软雅黑"/>
                <a:ea typeface="微软雅黑"/>
              </a:rPr>
              <a:t>★ PENDING → PAID 触发器自动入账积分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5300" y="4061460"/>
            <a:ext cx="11247120" cy="237744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4023360"/>
            <a:ext cx="1124712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7A86E"/>
                </a:solidFill>
                <a:latin typeface="微软雅黑"/>
                <a:ea typeface="微软雅黑"/>
              </a:rPr>
              <a:t>💰 折扣 + 积分 计算优先级（结账时）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6177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6177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原价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617720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Consolas"/>
                <a:ea typeface="Consolas"/>
              </a:rPr>
              <a:t>subtotal = Σ(quantity × unit_price)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0292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0292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0292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取较优折扣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5029200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Consolas"/>
                <a:ea typeface="Consolas"/>
              </a:rPr>
              <a:t>rate = MIN(member_discount, promo_discount)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4406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4406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4406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折后金额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440680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Consolas"/>
                <a:ea typeface="Consolas"/>
              </a:rPr>
              <a:t>discounted = subtotal × rate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852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8521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4EC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8521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积分抵现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040" y="5852160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Consolas"/>
                <a:ea typeface="Consolas"/>
              </a:rPr>
              <a:t>total = MAX(0, discounted − points_used × 0.01)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使用说明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一键启动 · 跨平台双脚本 · 4 个预置演示账号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760720" cy="438912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7607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7A86E"/>
                </a:solidFill>
                <a:latin typeface="微软雅黑"/>
                <a:ea typeface="微软雅黑"/>
              </a:rPr>
              <a:t>🚀 启动方式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环境要求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>
                <a:solidFill>
                  <a:srgbClr val="D7A86E"/>
                </a:solidFill>
                <a:latin typeface="等线"/>
              </a:rPr>
              <a:t>●  </a:t>
            </a:r>
            <a:r>
              <a:rPr sz="1200">
                <a:solidFill>
                  <a:srgbClr val="2A211B"/>
                </a:solidFill>
                <a:latin typeface="等线"/>
              </a:rPr>
              <a:t>Python 3.10+    ·   MySQL 8.0+</a:t>
            </a:r>
          </a:p>
          <a:p>
            <a:pPr algn="l">
              <a:lnSpc>
                <a:spcPct val="145000"/>
              </a:lnSpc>
            </a:pPr>
            <a:r>
              <a:rPr sz="1000">
                <a:solidFill>
                  <a:srgbClr val="D7A86E"/>
                </a:solidFill>
                <a:latin typeface="等线"/>
              </a:rPr>
              <a:t>●  </a:t>
            </a:r>
            <a:r>
              <a:rPr sz="1200">
                <a:solidFill>
                  <a:srgbClr val="2A211B"/>
                </a:solidFill>
                <a:latin typeface="等线"/>
              </a:rPr>
              <a:t>依赖：Flask · Flask-SQLAlchemy · PyMySQL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一键启动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>
                <a:solidFill>
                  <a:srgbClr val="D7A86E"/>
                </a:solidFill>
                <a:latin typeface="等线"/>
              </a:rPr>
              <a:t>●  </a:t>
            </a:r>
            <a:r>
              <a:rPr sz="1200">
                <a:solidFill>
                  <a:srgbClr val="2A211B"/>
                </a:solidFill>
                <a:latin typeface="等线"/>
              </a:rPr>
              <a:t>Windows ：双击  启动.bat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D7A86E"/>
                </a:solidFill>
                <a:latin typeface="等线"/>
              </a:rPr>
              <a:t>●  </a:t>
            </a:r>
            <a:r>
              <a:rPr sz="1200">
                <a:solidFill>
                  <a:srgbClr val="2A211B"/>
                </a:solidFill>
                <a:latin typeface="等线"/>
              </a:rPr>
              <a:t>macOS  ：双击  启动咖啡店系统.command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D7A86E"/>
                </a:solidFill>
                <a:latin typeface="等线"/>
              </a:rPr>
              <a:t>●  </a:t>
            </a:r>
            <a:r>
              <a:rPr sz="1200">
                <a:solidFill>
                  <a:srgbClr val="2A211B"/>
                </a:solidFill>
                <a:latin typeface="等线"/>
              </a:rPr>
              <a:t>自动建虚拟环境 · 装依赖 · 起服务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D7A86E"/>
                </a:solidFill>
                <a:latin typeface="等线"/>
              </a:rPr>
              <a:t>●  </a:t>
            </a:r>
            <a:r>
              <a:rPr sz="1200">
                <a:solidFill>
                  <a:srgbClr val="2A211B"/>
                </a:solidFill>
                <a:latin typeface="等线"/>
              </a:rPr>
              <a:t>浏览器自动打开 http://127.0.0.1:5050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8900" y="1866900"/>
            <a:ext cx="5303520" cy="438912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3035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7A86E"/>
                </a:solidFill>
                <a:latin typeface="微软雅黑"/>
                <a:ea typeface="微软雅黑"/>
              </a:rPr>
              <a:t>👥 演示账号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629400" y="2560320"/>
          <a:ext cx="4846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AF4EC"/>
                          </a:solidFill>
                          <a:latin typeface="微软雅黑"/>
                        </a:rPr>
                        <a:t>角色</a:t>
                      </a:r>
                    </a:p>
                  </a:txBody>
                  <a:tcPr anchor="ctr"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AF4EC"/>
                          </a:solidFill>
                          <a:latin typeface="微软雅黑"/>
                        </a:rPr>
                        <a:t>用户名</a:t>
                      </a:r>
                    </a:p>
                  </a:txBody>
                  <a:tcPr anchor="ctr"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AF4EC"/>
                          </a:solidFill>
                          <a:latin typeface="微软雅黑"/>
                        </a:rPr>
                        <a:t>密码</a:t>
                      </a:r>
                    </a:p>
                  </a:txBody>
                  <a:tcPr anchor="ctr"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AF4EC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anchor="ctr">
                    <a:solidFill>
                      <a:srgbClr val="6F4E3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管理员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admin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admin123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杨帆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管理员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xyq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070203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许跃骞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咖啡师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barista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barista123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李明</a:t>
                      </a:r>
                    </a:p>
                  </a:txBody>
                  <a:tcPr anchor="ctr">
                    <a:solidFill>
                      <a:srgbClr val="FA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收银员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cashier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cashier123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1B14"/>
                          </a:solidFill>
                          <a:latin typeface="等线"/>
                        </a:rPr>
                        <a:t>王磊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04·补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角色权限矩阵（RBAC）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三种角色 · 装饰器 @admin_required 控制访问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37033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7033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703320" cy="640080"/>
          </a:xfrm>
          <a:prstGeom prst="rect">
            <a:avLst/>
          </a:prstGeom>
          <a:solidFill>
            <a:srgbClr val="B04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4EC"/>
                </a:solidFill>
                <a:latin typeface="微软雅黑"/>
                <a:ea typeface="微软雅黑"/>
              </a:rPr>
              <a:t>管理员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AF4EC"/>
                </a:solidFill>
                <a:latin typeface="Consolas"/>
                <a:ea typeface="Consolas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06040"/>
            <a:ext cx="2788920" cy="384048"/>
          </a:xfrm>
          <a:prstGeom prst="roundRect">
            <a:avLst>
              <a:gd name="adj" fmla="val 30000"/>
            </a:avLst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27889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04835"/>
                </a:solidFill>
                <a:latin typeface="Consolas"/>
                <a:ea typeface="Consolas"/>
              </a:rPr>
              <a:t>@admin_required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0040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查看仪表盘 / 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84448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84448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下单 / 修改订单状态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68496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68496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管理菜单（增删改）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52544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52544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管理库存 / 配方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36592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36592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管理促销 / 会员等级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2064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管理员工账号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04688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导出 / 系统设置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3212" y="1866900"/>
            <a:ext cx="37033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25112" y="1828800"/>
            <a:ext cx="37033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5112" y="1828800"/>
            <a:ext cx="3703320" cy="640080"/>
          </a:xfrm>
          <a:prstGeom prst="rect">
            <a:avLst/>
          </a:prstGeom>
          <a:solidFill>
            <a:srgbClr val="4F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1874519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4EC"/>
                </a:solidFill>
                <a:latin typeface="微软雅黑"/>
                <a:ea typeface="微软雅黑"/>
              </a:rPr>
              <a:t>咖啡师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219456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AF4EC"/>
                </a:solidFill>
                <a:latin typeface="Consolas"/>
                <a:ea typeface="Consolas"/>
              </a:rPr>
              <a:t>BARISTA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82312" y="2606040"/>
            <a:ext cx="2788920" cy="384048"/>
          </a:xfrm>
          <a:prstGeom prst="roundRect">
            <a:avLst>
              <a:gd name="adj" fmla="val 30000"/>
            </a:avLst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2606040"/>
            <a:ext cx="27889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F8B52"/>
                </a:solidFill>
                <a:latin typeface="Consolas"/>
                <a:ea typeface="Consolas"/>
              </a:rPr>
              <a:t>@login_required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2" y="3200400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8072" y="320040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查看仪表盘 / 统计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3584448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3584448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下单 / 修改订单状态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0872" y="3968496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8072" y="3968496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管理菜单（增删改）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4352544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8072" y="4352544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管理库存 / 配方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4736592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8072" y="4736592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管理促销 / 会员等级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0872" y="5120640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48072" y="512064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管理员工账号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872" y="5504688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48072" y="5504688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导出 / 系统设置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31124" y="1866900"/>
            <a:ext cx="37033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193024" y="1828800"/>
            <a:ext cx="37033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93024" y="1828800"/>
            <a:ext cx="3703320" cy="640080"/>
          </a:xfrm>
          <a:prstGeom prst="rect">
            <a:avLst/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3024" y="1874519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4EC"/>
                </a:solidFill>
                <a:latin typeface="微软雅黑"/>
                <a:ea typeface="微软雅黑"/>
              </a:rPr>
              <a:t>收银员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219456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AF4EC"/>
                </a:solidFill>
                <a:latin typeface="Consolas"/>
                <a:ea typeface="Consolas"/>
              </a:rPr>
              <a:t>CASHIER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50224" y="2606040"/>
            <a:ext cx="2788920" cy="384048"/>
          </a:xfrm>
          <a:prstGeom prst="roundRect">
            <a:avLst>
              <a:gd name="adj" fmla="val 30000"/>
            </a:avLst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0224" y="2606040"/>
            <a:ext cx="27889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3C6E9F"/>
                </a:solidFill>
                <a:latin typeface="Consolas"/>
                <a:ea typeface="Consolas"/>
              </a:rPr>
              <a:t>@login_required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3200400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15984" y="320040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查看仪表盘 / 统计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8784" y="3584448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8B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15984" y="3584448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1B14"/>
                </a:solidFill>
                <a:latin typeface="等线"/>
                <a:ea typeface="等线"/>
              </a:rPr>
              <a:t>下单 / 修改订单状态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3968496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15984" y="3968496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管理菜单（增删改）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58784" y="4352544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15984" y="4352544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管理库存 / 配方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8784" y="4736592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15984" y="4736592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管理促销 / 会员等级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58784" y="5120640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15984" y="512064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管理员工账号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8784" y="5504688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04835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15984" y="5504688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B7569"/>
                </a:solidFill>
                <a:latin typeface="等线"/>
                <a:ea typeface="等线"/>
              </a:rPr>
              <a:t>导出 / 系统设置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05·1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界面展示  —  仪表盘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KPI 卡片 · 当日营收 · 商品销量 TOP-5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6457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05·2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界面展示  —  菜单页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分类化商品卡片 · 关键词与分类筛选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6457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05·3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界面展示  —  下单页面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多行购物车 · 规格 · 支付方式 · 折扣 / 积分抵现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new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6457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05·4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界面展示  —  订单列表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今日/历史标签 · 状态筛选 · 分页 · 状态机流转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6457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05·5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界面展示  —  统计分析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营收趋势 · 销量排行 · 8 个多表 JOIN 报表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6457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06·补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性能优化  —  N+1 查询消除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joinedload / selectinload  ·  单页 SQL 数  ~70 → ~5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32120" cy="548640"/>
          </a:xfrm>
          <a:prstGeom prst="rect">
            <a:avLst/>
          </a:prstGeom>
          <a:solidFill>
            <a:srgbClr val="B04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❌  优化前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B04835"/>
                </a:solidFill>
                <a:latin typeface="Consolas"/>
              </a:rPr>
              <a:t># orders 列表：30 条订单 / 页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orders = Order.query.all()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for o in orders: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print(o.customer.name)   # → 30 次查询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print(o.staff.name)      # → 30 次查询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for it in o.items:       # → 30 次查询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    ...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B04835"/>
                </a:solidFill>
                <a:latin typeface="Consolas"/>
              </a:rPr>
              <a:t># 合计 ≈  1 + 30 × 3  =  91 条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02920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B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04835"/>
                </a:solidFill>
                <a:latin typeface="微软雅黑"/>
                <a:ea typeface="微软雅黑"/>
              </a:rPr>
              <a:t>实测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04835"/>
                </a:solidFill>
                <a:latin typeface="微软雅黑"/>
                <a:ea typeface="微软雅黑"/>
              </a:rPr>
              <a:t>≈  70 条 SQL / 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06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页面渲染慢，DB 压力大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580" y="1866900"/>
            <a:ext cx="5577840" cy="44805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557784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5577840" cy="548640"/>
          </a:xfrm>
          <a:prstGeom prst="rect">
            <a:avLst/>
          </a:prstGeom>
          <a:solidFill>
            <a:srgbClr val="4F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4EC"/>
                </a:solidFill>
                <a:latin typeface="微软雅黑"/>
                <a:ea typeface="微软雅黑"/>
              </a:rPr>
              <a:t>✓  优化后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060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4F8B52"/>
                </a:solidFill>
                <a:latin typeface="Consolas"/>
              </a:rPr>
              <a:t># 用 joinedload / selectinload 预加载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orders = (Order.query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.options(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    joinedload(Order.customer),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    joinedload(Order.staff),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    selectinload(Order.items))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2B1B14"/>
                </a:solidFill>
                <a:latin typeface="Consolas"/>
              </a:rPr>
              <a:t>    .all())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4F8B52"/>
                </a:solidFill>
                <a:latin typeface="Consolas"/>
              </a:rPr>
              <a:t># 合计 =  1 + 1 + 1 + 1  ≈  5 条 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502920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D8E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1206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8B52"/>
                </a:solidFill>
                <a:latin typeface="微软雅黑"/>
                <a:ea typeface="微软雅黑"/>
              </a:rPr>
              <a:t>实测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39496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F8B52"/>
                </a:solidFill>
                <a:latin typeface="微软雅黑"/>
                <a:ea typeface="微软雅黑"/>
              </a:rPr>
              <a:t>≈  5 条 SQL / 次   ⚡ 提速 14×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806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7569"/>
                </a:solidFill>
                <a:latin typeface="等线"/>
                <a:ea typeface="等线"/>
              </a:rPr>
              <a:t>页面瞬开，DB 压力大幅下降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06·补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项目数据与收获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一组直观的数字 · 一份真切的成长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362456" cy="9144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6F4E37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张关系表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3476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65376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65376" y="1828800"/>
            <a:ext cx="1362456" cy="9144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65376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D7A86E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376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个触发器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1652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73552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3552" y="1828800"/>
            <a:ext cx="1362456" cy="91440"/>
          </a:xfrm>
          <a:prstGeom prst="rect">
            <a:avLst/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06641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款商品（AI 配图）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9828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81728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1728" y="1828800"/>
            <a:ext cx="1362456" cy="91440"/>
          </a:xfrm>
          <a:prstGeom prst="rect">
            <a:avLst/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3C6E9F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位演示会员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8004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89904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9904" y="1828800"/>
            <a:ext cx="1362456" cy="91440"/>
          </a:xfrm>
          <a:prstGeom prst="rect">
            <a:avLst/>
          </a:prstGeom>
          <a:solidFill>
            <a:srgbClr val="4F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4F8B52"/>
                </a:solidFill>
                <a:latin typeface="微软雅黑"/>
                <a:ea typeface="微软雅黑"/>
              </a:rPr>
              <a:t>150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条历史订单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36180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0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0" y="1828800"/>
            <a:ext cx="1362456" cy="91440"/>
          </a:xfrm>
          <a:prstGeom prst="rect">
            <a:avLst/>
          </a:prstGeom>
          <a:solidFill>
            <a:srgbClr val="B04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04835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个 Blueprint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44356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06256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06256" y="1828800"/>
            <a:ext cx="1362456" cy="9144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6256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6F4E37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06256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个多表 JOIN 报表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52532" y="18669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14432" y="1828800"/>
            <a:ext cx="136245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14432" y="1828800"/>
            <a:ext cx="1362456" cy="9144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14432" y="2011680"/>
            <a:ext cx="1362456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D7A86E"/>
                </a:solidFill>
                <a:latin typeface="微软雅黑"/>
                <a:ea typeface="微软雅黑"/>
              </a:rPr>
              <a:t>14×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4432" y="2788920"/>
            <a:ext cx="1362456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性能提升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5300" y="3649980"/>
            <a:ext cx="11247120" cy="26974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3611880"/>
            <a:ext cx="1124712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7033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7A86E"/>
                </a:solidFill>
                <a:latin typeface="微软雅黑"/>
                <a:ea typeface="微软雅黑"/>
              </a:rPr>
              <a:t>🎓 学习收获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4297680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4206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数据库设计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206240"/>
            <a:ext cx="8778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547"/>
                </a:solidFill>
                <a:latin typeface="等线"/>
                <a:ea typeface="等线"/>
              </a:rPr>
              <a:t>从需求到 ER 到 3NF 关系的完整建模流程；触发器、视图、存储过程在业务规则中的恰当落地。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800600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47091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ORM 与 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4709160"/>
            <a:ext cx="8778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547"/>
                </a:solidFill>
                <a:latin typeface="等线"/>
                <a:ea typeface="等线"/>
              </a:rPr>
              <a:t>理解 ORM 屏蔽下的实际 SQL；通过 EXPLAIN 与日志识别 N+1，并用预加载消除。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303520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" y="5212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工程实践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5212080"/>
            <a:ext cx="8778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547"/>
                </a:solidFill>
                <a:latin typeface="等线"/>
                <a:ea typeface="等线"/>
              </a:rPr>
              <a:t>Blueprint 模块化、应用工厂、装饰器鉴权；数据库改动配套幂等迁移脚本。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806440"/>
            <a:ext cx="109728" cy="292608"/>
          </a:xfrm>
          <a:prstGeom prst="roundRect">
            <a:avLst>
              <a:gd name="adj" fmla="val 40000"/>
            </a:avLst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57150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1B14"/>
                </a:solidFill>
                <a:latin typeface="微软雅黑"/>
                <a:ea typeface="微软雅黑"/>
              </a:rPr>
              <a:t>协作能力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5715000"/>
            <a:ext cx="8778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5547"/>
                </a:solidFill>
                <a:latin typeface="等线"/>
                <a:ea typeface="等线"/>
              </a:rPr>
              <a:t>Git 分支管理、Conventional Commits、Code Review；二人远程协作的同步与冲突处理。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06·2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工程改进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迭代过程中真实落地的代码质量提升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37160" cy="128016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8229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6F4E37"/>
                </a:solidFill>
                <a:latin typeface="微软雅黑"/>
                <a:ea typeface="微软雅黑"/>
              </a:rPr>
              <a:t>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4343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Blueprint 模块化重构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1000 行单文件 app.py  →  11 个 Blueprint 模块（应用工厂模式）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580" y="186690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137160" cy="128016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8229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D7A86E"/>
                </a:solidFill>
                <a:latin typeface="微软雅黑"/>
                <a:ea typeface="微软雅黑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11680"/>
            <a:ext cx="4343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消除 N+1 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42316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joinedload / selectinload  · 单页 SQL 数：~70 → ~5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300" y="3265932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227832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27832"/>
            <a:ext cx="137160" cy="1280160"/>
          </a:xfrm>
          <a:prstGeom prst="rect">
            <a:avLst/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27832"/>
            <a:ext cx="8229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A06641"/>
                </a:solidFill>
                <a:latin typeface="微软雅黑"/>
                <a:ea typeface="微软雅黑"/>
              </a:rP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410712"/>
            <a:ext cx="4343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服务端分页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22192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订单列表 / 会员列表，避免一次加载全表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4580" y="3265932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3227832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227832"/>
            <a:ext cx="137160" cy="1280160"/>
          </a:xfrm>
          <a:prstGeom prst="rect">
            <a:avLst/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227832"/>
            <a:ext cx="8229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3C6E9F"/>
                </a:solidFill>
                <a:latin typeface="微软雅黑"/>
                <a:ea typeface="微软雅黑"/>
              </a:rP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410712"/>
            <a:ext cx="4343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友好错误页 + 冒烟测试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822192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404 / 500 自定义页面 · 4 项冒烟测试覆盖核心路径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300" y="4664964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4626864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626864"/>
            <a:ext cx="137160" cy="1280160"/>
          </a:xfrm>
          <a:prstGeom prst="rect">
            <a:avLst/>
          </a:prstGeom>
          <a:solidFill>
            <a:srgbClr val="4F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26864"/>
            <a:ext cx="8229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4F8B52"/>
                </a:solidFill>
                <a:latin typeface="微软雅黑"/>
                <a:ea typeface="微软雅黑"/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809744"/>
            <a:ext cx="4343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数据库改动配套幂等脚本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221224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每次改 DB 都附 seed_*.py / migration_*.py，搭档拉取即同步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4580" y="4664964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26480" y="4626864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4626864"/>
            <a:ext cx="137160" cy="1280160"/>
          </a:xfrm>
          <a:prstGeom prst="rect">
            <a:avLst/>
          </a:prstGeom>
          <a:solidFill>
            <a:srgbClr val="B04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626864"/>
            <a:ext cx="8229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B04835"/>
                </a:solidFill>
                <a:latin typeface="微软雅黑"/>
                <a:ea typeface="微软雅黑"/>
              </a:rPr>
              <a:t>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809744"/>
            <a:ext cx="4343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AI 生成商品图 + 演示数据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5221224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5547"/>
                </a:solidFill>
                <a:latin typeface="等线"/>
                <a:ea typeface="等线"/>
              </a:rPr>
              <a:t>29 张商品图 · 20 位会员 · 150 条历史订单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64592" cy="777240"/>
          </a:xfrm>
          <a:prstGeom prst="roundRect">
            <a:avLst>
              <a:gd name="adj" fmla="val 30000"/>
            </a:avLst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A86E"/>
                </a:solidFill>
                <a:latin typeface="微软雅黑"/>
                <a:ea typeface="微软雅黑"/>
              </a:rPr>
              <a:t>06·3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1B14"/>
                </a:solidFill>
                <a:latin typeface="微软雅黑"/>
                <a:ea typeface="微软雅黑"/>
              </a:rPr>
              <a:t>现存问题与未来改进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7569"/>
                </a:solidFill>
                <a:latin typeface="等线"/>
                <a:ea typeface="等线"/>
              </a:rPr>
              <a:t>已识别但暂未优化的点 · 后续迭代方向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6690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D7A86E"/>
                </a:solidFill>
                <a:latin typeface="微软雅黑"/>
                <a:ea typeface="微软雅黑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密码哈希存储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2024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目前明文存储 · 应改为 bcrypt 或 werkzeug.security 哈希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300" y="2580132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4203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D7A86E"/>
                </a:solidFill>
                <a:latin typeface="微软雅黑"/>
                <a:ea typeface="微软雅黑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3347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生产级部署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33472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单 Flask 进程 · 应改为 Gunicorn + Nginx 反向代理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300" y="3293364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255264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55264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D7A86E"/>
                </a:solidFill>
                <a:latin typeface="微软雅黑"/>
                <a:ea typeface="微软雅黑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46704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可视化升级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纯模板渲染 · 引入 ECharts 让统计页更直观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300" y="4006596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968496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68496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D7A86E"/>
                </a:solidFill>
                <a:latin typeface="微软雅黑"/>
                <a:ea typeface="微软雅黑"/>
              </a:rP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59936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操作日志表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059936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增加审计表（谁、何时、改了什么）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300" y="4719828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4681728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81728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D7A86E"/>
                </a:solidFill>
                <a:latin typeface="微软雅黑"/>
                <a:ea typeface="微软雅黑"/>
              </a:rPr>
              <a:t>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73168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移动端适配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773168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导航栏在窄屏挤压 · 加汉堡菜单或换行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300" y="543306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6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539496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D7A86E"/>
                </a:solidFill>
                <a:latin typeface="微软雅黑"/>
                <a:ea typeface="微软雅黑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48640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1B14"/>
                </a:solidFill>
                <a:latin typeface="微软雅黑"/>
                <a:ea typeface="微软雅黑"/>
              </a:rPr>
              <a:t>数据库索引补全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4864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547"/>
                </a:solidFill>
                <a:latin typeface="等线"/>
                <a:ea typeface="等线"/>
              </a:rPr>
              <a:t>0 个自定义索引 · 给热点外键列加索引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咖啡店订单管理系统  ·  数据库原理与应用  ·  西南大学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7569"/>
                </a:solidFill>
                <a:latin typeface="等线"/>
                <a:ea typeface="等线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18288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3657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A0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743200"/>
            <a:ext cx="2103120" cy="5715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0" b="1">
                <a:solidFill>
                  <a:srgbClr val="FAF4EC"/>
                </a:solidFill>
                <a:latin typeface="微软雅黑"/>
                <a:ea typeface="微软雅黑"/>
              </a:rPr>
              <a:t>感  谢  聆  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D7A86E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AF4EC"/>
                </a:solidFill>
                <a:latin typeface="微软雅黑"/>
                <a:ea typeface="微软雅黑"/>
              </a:rPr>
              <a:t>敬请提问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D7A86E"/>
                </a:solidFill>
                <a:latin typeface="微软雅黑"/>
                <a:ea typeface="微软雅黑"/>
              </a:rPr>
              <a:t>Q  &amp; 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7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B1B14"/>
                </a:solidFill>
                <a:latin typeface="微软雅黑"/>
                <a:ea typeface="微软雅黑"/>
              </a:rPr>
              <a:t>☕  咖啡店订单管理系统  ·  114 杨帆 &amp; 092 许跃骞  ·  西南大学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